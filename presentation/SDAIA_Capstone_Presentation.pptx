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State the one-sentence pitch: a researcher asks a question in natural language, and every sentence of the answer traces back to a real, governed clinical trial record. Mention the whole platform is a single Python file, as the Day 5 brief requires.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before the solution. The key line: in a clinical setting a hallucinated eligibility threshold is not a bad answer, it is a dangerous one. That is why retrieval, governance, and audit are requirements rather than nice-to-haves.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words are the spine of the whole presentation — every layer that follows exists to deliver one of them. Grounded, Private, Auditable.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top to bottom once, quickly. The right-hand panel is the point: this is not eight scripts, it is one orchestrated graph. Land the integration principle sentence — it is the thesis of the whole capstone.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answers the evaluator's core question: did you actually integrate the course, or bolt things together? Point at the class name in each row — every concept has a named implementation you can open.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resilience ladder is worth pausing on: it is the Day 5 orchestration principle of automatic fallbacks, applied to the very first stage. The system always prints which tier it used, so nobody can mistake fallback data for real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strongest slide for a technical evaluation because it shows a real defect we found by testing, and the reasoning behind the fix. Emphasise: the registry is full of completed older trials, so the naive version would have halted on a real 60-record pull.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Day 5 brief for this project idea says literally: apply HIPAA governance, no PHI in the vector DB. Show that it is a runtime exception, not a promise. The closing quote is the line to 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Day 1 lab reproduced faithfully — versions 0 and 1, WRITE and APPEND, and a deliberately rejected schema drift. Say plainly that we reimplemented the semantics rather than using delta-spark, and why: no JVM dependency, single-file deliverable.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takeaways: the physical index choice is justified by the course's own decision tree, and the chunking fix shows we tested retrieval quality rather than assuming it. A chunk must be a unit of meaning — that is the Day 3 golden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exact-token argument is the one that lands with a technical audience: ask any pure-vector RAG for a specific NCT identifier and watch it fail. Hybrid retrieval is not decoration, it fixes a real failure 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things distinguish this from a demo RAG: the citation resolves all the way back to the pipeline run that produced it, and the system tells you when its own sources disagree. Both were required by the Day 5 project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5 devotes thirteen slides to orchestration, so expect a question here. We did not install Airflow; we implemented the four guarantees Airflow exists to provide, and we can point at each one in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terminal here and run --stage demo. If the network is unavailable, run it with --offline and say so — the committed raw dataset makes the run reproducible either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Presenting limitations deliberately is a strength in a technical review — it shows you know the difference between tested and assumed. Do not skip this box; an evaluator who finds it themselves trusts the rest of the deck less.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trade-offs, because a technical evaluation rewards defensible choices more than fashionable ones. The final quote is from the Day 5 slides themselves - end by tying the project back to the course thesis. Then open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371600"/>
            <a:ext cx="5669280" cy="5669280"/>
          </a:xfrm>
          <a:prstGeom prst="ellipse">
            <a:avLst/>
          </a:prstGeom>
          <a:solidFill>
            <a:srgbClr val="0A4653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2834640"/>
            <a:ext cx="3108960" cy="31089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0515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 ·  Modern Data Engineering for AI Systems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81328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</a:t>
            </a:r>
            <a:endParaRPr lang="en-US" sz="44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Trial Matcher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42900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FD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integrated AI data platform that answers clinical questions from real registry evidence — grounded, private, and fully auditable.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4370832"/>
            <a:ext cx="3200400" cy="786384"/>
          </a:xfrm>
          <a:prstGeom prst="roundRect">
            <a:avLst>
              <a:gd name="adj" fmla="val 10465"/>
            </a:avLst>
          </a:prstGeom>
          <a:solidFill>
            <a:srgbClr val="0A465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8096" y="452628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CAPSTONE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47457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Integration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995928" y="4370832"/>
            <a:ext cx="3200400" cy="786384"/>
          </a:xfrm>
          <a:prstGeom prst="roundRect">
            <a:avLst>
              <a:gd name="adj" fmla="val 10465"/>
            </a:avLst>
          </a:prstGeom>
          <a:solidFill>
            <a:srgbClr val="0A465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197096" y="452628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197096" y="47457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file · 2,081 lines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54132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 Wael Alhelal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5760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F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reference SDAIA-F-CRS-100-01-V1   ·   github.com/Danaaao/Eng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chatbot cannot do this job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9848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a general-purpose LLM about clinical trials fails in three specific ways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3493008" cy="3246120"/>
          </a:xfrm>
          <a:prstGeom prst="roundRect">
            <a:avLst>
              <a:gd name="adj" fmla="val 2535"/>
            </a:avLst>
          </a:prstGeom>
          <a:solidFill>
            <a:srgbClr val="EFF5F6"/>
          </a:solidFill>
          <a:ln/>
          <a:effectLst>
            <a:outerShdw sx="100000" sy="100000" kx="0" ky="0" algn="bl" rotWithShape="0" blurRad="101600" dist="25400" dir="5400000">
              <a:srgbClr val="0A2A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48840"/>
            <a:ext cx="566928" cy="56692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88036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invents evidence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364992"/>
            <a:ext cx="29443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for trials matching a patient, an LLM returns confident NCT identifiers and eligibility thresholds that do not exist. In a clinical setting that is not a bad answer — it is a dangerous one.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34256" y="1874520"/>
            <a:ext cx="3493008" cy="3246120"/>
          </a:xfrm>
          <a:prstGeom prst="roundRect">
            <a:avLst>
              <a:gd name="adj" fmla="val 2535"/>
            </a:avLst>
          </a:prstGeom>
          <a:solidFill>
            <a:srgbClr val="EFF5F6"/>
          </a:solidFill>
          <a:ln/>
          <a:effectLst>
            <a:outerShdw sx="100000" sy="100000" kx="0" ky="0" algn="bl" rotWithShape="0" blurRad="101600" dist="25400" dir="5400000">
              <a:srgbClr val="0A2A33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08576" y="214884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08576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08576" y="288036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cannot see your data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08576" y="3364992"/>
            <a:ext cx="29443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has a cutoff and never included the hospital's own patient records. The trials it 'knows' may have closed years ago.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01584" y="1874520"/>
            <a:ext cx="3493008" cy="3246120"/>
          </a:xfrm>
          <a:prstGeom prst="roundRect">
            <a:avLst>
              <a:gd name="adj" fmla="val 2535"/>
            </a:avLst>
          </a:prstGeom>
          <a:solidFill>
            <a:srgbClr val="EFF5F6"/>
          </a:solidFill>
          <a:ln/>
          <a:effectLst>
            <a:outerShdw sx="100000" sy="100000" kx="0" ky="0" algn="bl" rotWithShape="0" blurRad="101600" dist="25400" dir="5400000">
              <a:srgbClr val="0A2A33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75904" y="214884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75904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75904" y="288036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leaves no trace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75904" y="3364992"/>
            <a:ext cx="29443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of who asked what, which sources were used, or whether protected health information was exposed. Regulated environments cannot operate this way.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647395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Clinical Trial Matcher  ·  SDAIA Day 5 Capstone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045952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guarantees, enforced by code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4173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researcher asks in natural language. The platform answers only from real, validated, governed clinical trial records — and proves it.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2212848"/>
            <a:ext cx="3493008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3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0A2A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487168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98448" y="248716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292608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invented trials or thresholds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3273552"/>
            <a:ext cx="29077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over a curated, quality-gated corpus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forbids outside knowledge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Groundedness measured on every answer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34256" y="2212848"/>
            <a:ext cx="3493008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3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0A2A33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26864" y="2487168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65776" y="248716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626864" y="292608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PHI leaves the safe zone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626864" y="3273552"/>
            <a:ext cx="29077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Identifiers stripped before embedding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 refuses any chunk carrying PHI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questions redacted too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1584" y="2212848"/>
            <a:ext cx="3493008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3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0A2A33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94192" y="248716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833104" y="248716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Auditable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394192" y="292608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access is on record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394192" y="3273552"/>
            <a:ext cx="29077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audit trail per query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lineage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trail from claim to source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647395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Clinical Trial Matcher  ·  SDAIA Day 5 Capstone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045952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integrated architecture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9848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layers, one platform — every component from the five course days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212080" cy="475488"/>
          </a:xfrm>
          <a:prstGeom prst="roundRect">
            <a:avLst>
              <a:gd name="adj" fmla="val 11538"/>
            </a:avLst>
          </a:prstGeom>
          <a:solidFill>
            <a:srgbClr val="0A4653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700784"/>
            <a:ext cx="219456" cy="21945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42416" y="162306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898648" y="1641348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FB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ClinicalTrials.gov API v2  ·  Internal EHR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13816" y="2048256"/>
            <a:ext cx="18288" cy="105156"/>
          </a:xfrm>
          <a:prstGeom prst="rect">
            <a:avLst/>
          </a:prstGeom>
          <a:solidFill>
            <a:srgbClr val="1E5A68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2153412"/>
            <a:ext cx="5212080" cy="475488"/>
          </a:xfrm>
          <a:prstGeom prst="roundRect">
            <a:avLst>
              <a:gd name="adj" fmla="val 11538"/>
            </a:avLst>
          </a:prstGeom>
          <a:solidFill>
            <a:srgbClr val="0A4653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2281428"/>
            <a:ext cx="219456" cy="21945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42416" y="220370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Ingestion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898648" y="2221992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FB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broker  ·  async producers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3816" y="2628900"/>
            <a:ext cx="18288" cy="105156"/>
          </a:xfrm>
          <a:prstGeom prst="rect">
            <a:avLst/>
          </a:prstGeom>
          <a:solidFill>
            <a:srgbClr val="1E5A68"/>
          </a:solidFill>
          <a:ln/>
        </p:spPr>
      </p:sp>
      <p:sp>
        <p:nvSpPr>
          <p:cNvPr id="14" name="Shape 12"/>
          <p:cNvSpPr/>
          <p:nvPr/>
        </p:nvSpPr>
        <p:spPr>
          <a:xfrm>
            <a:off x="566928" y="2734056"/>
            <a:ext cx="5212080" cy="475488"/>
          </a:xfrm>
          <a:prstGeom prst="roundRect">
            <a:avLst>
              <a:gd name="adj" fmla="val 11538"/>
            </a:avLst>
          </a:prstGeom>
          <a:solidFill>
            <a:srgbClr val="0A4653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2862072"/>
            <a:ext cx="219456" cy="21945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42416" y="27843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Gate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898648" y="2802636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FB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dimensions  ·  quarantine gate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13816" y="3209544"/>
            <a:ext cx="18288" cy="105156"/>
          </a:xfrm>
          <a:prstGeom prst="rect">
            <a:avLst/>
          </a:prstGeom>
          <a:solidFill>
            <a:srgbClr val="1E5A68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" y="3314700"/>
            <a:ext cx="5212080" cy="475488"/>
          </a:xfrm>
          <a:prstGeom prst="roundRect">
            <a:avLst>
              <a:gd name="adj" fmla="val 11538"/>
            </a:avLst>
          </a:prstGeom>
          <a:solidFill>
            <a:srgbClr val="0A4653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3442716"/>
            <a:ext cx="219456" cy="21945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42416" y="33649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Layer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898648" y="3383280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FB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guard  ·  ABAC  ·  lineage  ·  audit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13816" y="3790188"/>
            <a:ext cx="18288" cy="105156"/>
          </a:xfrm>
          <a:prstGeom prst="rect">
            <a:avLst/>
          </a:prstGeom>
          <a:solidFill>
            <a:srgbClr val="1E5A68"/>
          </a:solidFill>
          <a:ln/>
        </p:spPr>
      </p:sp>
      <p:sp>
        <p:nvSpPr>
          <p:cNvPr id="24" name="Shape 22"/>
          <p:cNvSpPr/>
          <p:nvPr/>
        </p:nvSpPr>
        <p:spPr>
          <a:xfrm>
            <a:off x="566928" y="3895344"/>
            <a:ext cx="5212080" cy="475488"/>
          </a:xfrm>
          <a:prstGeom prst="roundRect">
            <a:avLst>
              <a:gd name="adj" fmla="val 11538"/>
            </a:avLst>
          </a:prstGeom>
          <a:solidFill>
            <a:srgbClr val="0A4653"/>
          </a:solidFill>
          <a:ln/>
        </p:spPr>
      </p:sp>
      <p:sp>
        <p:nvSpPr>
          <p:cNvPr id="25" name="Shape 23"/>
          <p:cNvSpPr/>
          <p:nvPr/>
        </p:nvSpPr>
        <p:spPr>
          <a:xfrm>
            <a:off x="713232" y="4023360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42416" y="394563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 Storage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898648" y="3963924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FB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 ·  schema  ·  time travel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13816" y="4370832"/>
            <a:ext cx="18288" cy="105156"/>
          </a:xfrm>
          <a:prstGeom prst="rect">
            <a:avLst/>
          </a:prstGeom>
          <a:solidFill>
            <a:srgbClr val="1E5A68"/>
          </a:solidFill>
          <a:ln/>
        </p:spPr>
      </p:sp>
      <p:sp>
        <p:nvSpPr>
          <p:cNvPr id="29" name="Shape 27"/>
          <p:cNvSpPr/>
          <p:nvPr/>
        </p:nvSpPr>
        <p:spPr>
          <a:xfrm>
            <a:off x="566928" y="4475988"/>
            <a:ext cx="5212080" cy="475488"/>
          </a:xfrm>
          <a:prstGeom prst="roundRect">
            <a:avLst>
              <a:gd name="adj" fmla="val 11538"/>
            </a:avLst>
          </a:prstGeom>
          <a:solidFill>
            <a:srgbClr val="0A4653"/>
          </a:solidFill>
          <a:ln/>
        </p:spPr>
      </p:sp>
      <p:sp>
        <p:nvSpPr>
          <p:cNvPr id="30" name="Shape 28"/>
          <p:cNvSpPr/>
          <p:nvPr/>
        </p:nvSpPr>
        <p:spPr>
          <a:xfrm>
            <a:off x="713232" y="4604004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42416" y="452628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+ Embeddings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2898648" y="4544568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FB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chunking  ·  384-dim vectors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13816" y="4951476"/>
            <a:ext cx="18288" cy="105156"/>
          </a:xfrm>
          <a:prstGeom prst="rect">
            <a:avLst/>
          </a:prstGeom>
          <a:solidFill>
            <a:srgbClr val="1E5A68"/>
          </a:solidFill>
          <a:ln/>
        </p:spPr>
      </p:sp>
      <p:sp>
        <p:nvSpPr>
          <p:cNvPr id="34" name="Shape 32"/>
          <p:cNvSpPr/>
          <p:nvPr/>
        </p:nvSpPr>
        <p:spPr>
          <a:xfrm>
            <a:off x="566928" y="5056632"/>
            <a:ext cx="5212080" cy="475488"/>
          </a:xfrm>
          <a:prstGeom prst="roundRect">
            <a:avLst>
              <a:gd name="adj" fmla="val 11538"/>
            </a:avLst>
          </a:prstGeom>
          <a:solidFill>
            <a:srgbClr val="0A4653"/>
          </a:solidFill>
          <a:ln/>
        </p:spPr>
      </p:sp>
      <p:sp>
        <p:nvSpPr>
          <p:cNvPr id="35" name="Shape 33"/>
          <p:cNvSpPr/>
          <p:nvPr/>
        </p:nvSpPr>
        <p:spPr>
          <a:xfrm>
            <a:off x="713232" y="5184648"/>
            <a:ext cx="219456" cy="219456"/>
          </a:xfrm>
          <a:prstGeom prst="ellipse">
            <a:avLst/>
          </a:prstGeom>
          <a:solidFill>
            <a:srgbClr val="5FD4B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42416" y="510692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2898648" y="5125212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FB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 ·  HNSW  ·  cosine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13816" y="5532120"/>
            <a:ext cx="18288" cy="105156"/>
          </a:xfrm>
          <a:prstGeom prst="rect">
            <a:avLst/>
          </a:prstGeom>
          <a:solidFill>
            <a:srgbClr val="1E5A68"/>
          </a:solidFill>
          <a:ln/>
        </p:spPr>
      </p:sp>
      <p:sp>
        <p:nvSpPr>
          <p:cNvPr id="39" name="Shape 37"/>
          <p:cNvSpPr/>
          <p:nvPr/>
        </p:nvSpPr>
        <p:spPr>
          <a:xfrm>
            <a:off x="566928" y="5637276"/>
            <a:ext cx="5212080" cy="475488"/>
          </a:xfrm>
          <a:prstGeom prst="roundRect">
            <a:avLst>
              <a:gd name="adj" fmla="val 11538"/>
            </a:avLst>
          </a:prstGeom>
          <a:solidFill>
            <a:srgbClr val="0A4653"/>
          </a:solidFill>
          <a:ln/>
        </p:spPr>
      </p:sp>
      <p:sp>
        <p:nvSpPr>
          <p:cNvPr id="40" name="Shape 38"/>
          <p:cNvSpPr/>
          <p:nvPr/>
        </p:nvSpPr>
        <p:spPr>
          <a:xfrm>
            <a:off x="713232" y="5765292"/>
            <a:ext cx="219456" cy="219456"/>
          </a:xfrm>
          <a:prstGeom prst="ellipse">
            <a:avLst/>
          </a:prstGeom>
          <a:solidFill>
            <a:srgbClr val="5FD4B4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1042416" y="568756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RAG + Answer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2898648" y="5705856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FB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→ RRF → rerank → evidence trail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81928" y="1572768"/>
            <a:ext cx="5312664" cy="1828800"/>
          </a:xfrm>
          <a:prstGeom prst="roundRect">
            <a:avLst>
              <a:gd name="adj" fmla="val 4500"/>
            </a:avLst>
          </a:prstGeom>
          <a:solidFill>
            <a:srgbClr val="0A4653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556248" y="17830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 DAG</a:t>
            </a:r>
            <a:endParaRPr lang="en-US" sz="1800" dirty="0"/>
          </a:p>
        </p:txBody>
      </p:sp>
      <p:sp>
        <p:nvSpPr>
          <p:cNvPr id="45" name="Text 43"/>
          <p:cNvSpPr txBox="1"/>
          <p:nvPr/>
        </p:nvSpPr>
        <p:spPr>
          <a:xfrm>
            <a:off x="6556248" y="219456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FD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pipeline stages run as a dependency-resolved graph with automatic retries, exponential backoff, and a per-component fallback for every external dependency.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6281928" y="3584448"/>
            <a:ext cx="5312664" cy="2523744"/>
          </a:xfrm>
          <a:prstGeom prst="roundRect">
            <a:avLst>
              <a:gd name="adj" fmla="val 3261"/>
            </a:avLst>
          </a:prstGeom>
          <a:solidFill>
            <a:srgbClr val="028090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556248" y="380390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F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integration principle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6556248" y="4151376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data is stopped before it becomes an embedding. Protected data is stripped before it becomes a vector. Every answer carries the provenance of the record it came from.</a:t>
            </a:r>
            <a:endParaRPr lang="en-US" sz="1350" dirty="0"/>
          </a:p>
        </p:txBody>
      </p:sp>
      <p:sp>
        <p:nvSpPr>
          <p:cNvPr id="49" name="Text 47"/>
          <p:cNvSpPr txBox="1"/>
          <p:nvPr/>
        </p:nvSpPr>
        <p:spPr>
          <a:xfrm>
            <a:off x="566928" y="647395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Clinical Trial Matcher  ·  SDAIA Day 5 Capstone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11045952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five days integrate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9848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day of the course contributes a working layer, not a chapter of theory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1027664" cy="758952"/>
          </a:xfrm>
          <a:prstGeom prst="roundRect">
            <a:avLst>
              <a:gd name="adj" fmla="val 10843"/>
            </a:avLst>
          </a:prstGeom>
          <a:solidFill>
            <a:srgbClr val="EFF5F6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92938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86384" y="1929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08176" y="190195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Data Architectures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408176" y="2194560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DeltaStyleLakehouse()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270248" y="1947672"/>
            <a:ext cx="7095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Delta-style Lakehouse — ACID commits, schema enforcement, time travel, ELT raw preservation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633472"/>
            <a:ext cx="11027664" cy="758952"/>
          </a:xfrm>
          <a:prstGeom prst="roundRect">
            <a:avLst>
              <a:gd name="adj" fmla="val 10843"/>
            </a:avLst>
          </a:prstGeom>
          <a:solidFill>
            <a:srgbClr val="FFFFFF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384" y="277977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86384" y="2779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08176" y="275234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Pipelines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408176" y="304495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MockEventBroker()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270248" y="2798064"/>
            <a:ext cx="7095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ingestion — async broker with topics, decoupled producers and consumers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483864"/>
            <a:ext cx="11027664" cy="758952"/>
          </a:xfrm>
          <a:prstGeom prst="roundRect">
            <a:avLst>
              <a:gd name="adj" fmla="val 10843"/>
            </a:avLst>
          </a:prstGeom>
          <a:solidFill>
            <a:srgbClr val="EFF5F6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" y="36301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6384" y="3630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08176" y="360273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DBs &amp; Advanced RAG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1408176" y="3895344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HybridRetriever()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270248" y="3648456"/>
            <a:ext cx="7095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chunking, embeddings, HNSW index, hybrid retrieval, cross-encoder reranking, RAG Triad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4334256"/>
            <a:ext cx="11027664" cy="758952"/>
          </a:xfrm>
          <a:prstGeom prst="roundRect">
            <a:avLst>
              <a:gd name="adj" fmla="val 10843"/>
            </a:avLst>
          </a:prstGeom>
          <a:solidFill>
            <a:srgbClr val="FFFFFF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6384" y="44805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86384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408176" y="44531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Governance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1408176" y="4745736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PHIGuard()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270248" y="4498848"/>
            <a:ext cx="7095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quality dimensions, HIPAA PHI guard, ABAC, lineage graph, append-only audit trail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" y="5184648"/>
            <a:ext cx="11027664" cy="758952"/>
          </a:xfrm>
          <a:prstGeom prst="roundRect">
            <a:avLst>
              <a:gd name="adj" fmla="val 10843"/>
            </a:avLst>
          </a:prstGeom>
          <a:solidFill>
            <a:srgbClr val="EFF5F6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6384" y="533095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86384" y="5330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408176" y="53035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Integration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1408176" y="559612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PipelineOrchestrator()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270248" y="5349240"/>
            <a:ext cx="7095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DAG with dependency resolution, retries, backoff, and fallbacks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647395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Clinical Trial Matcher  ·  SDAIA Day 5 Capstone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045952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1 — Ingestion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9848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Event-driven pipeline over real registry data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828800"/>
            <a:ext cx="5532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data: ClinicalTrials.gov public API v2 — no key, no scraping, authoritative source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producers publish asynchronously to an event broker modelled on Kafka topic semantics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Producers never wait for consumers — the decoupling the course calls loose coupling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untouched response is cached to the landing zone before any transformation (ELT)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3977640"/>
            <a:ext cx="5532120" cy="1417320"/>
          </a:xfrm>
          <a:prstGeom prst="roundRect">
            <a:avLst>
              <a:gd name="adj" fmla="val 5806"/>
            </a:avLst>
          </a:prstGeom>
          <a:solidFill>
            <a:srgbClr val="EFF5F6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1422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second source?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4348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data is public and carries no PHI. An internal EHR source — synthetic, but deliberately PHI-bearing — gives the governance layer something real to detect and block.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64808" y="181051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Three-tier resilience ladder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64808" y="2267712"/>
            <a:ext cx="512064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DCE9EB"/>
            </a:solidFill>
            <a:prstDash val="solid"/>
          </a:ln>
          <a:effectLst>
            <a:outerShdw sx="100000" sy="100000" kx="0" ky="0" algn="bl" rotWithShape="0" blurRad="101600" dist="25400" dir="5400000">
              <a:srgbClr val="0A2A33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65976" y="244144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65976" y="249174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836408" y="2414016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registry API, cache the raw response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168896" y="3044952"/>
            <a:ext cx="18288" cy="118872"/>
          </a:xfrm>
          <a:prstGeom prst="rect">
            <a:avLst/>
          </a:prstGeom>
          <a:solidFill>
            <a:srgbClr val="BFD4D8"/>
          </a:solidFill>
          <a:ln/>
        </p:spPr>
      </p:sp>
      <p:sp>
        <p:nvSpPr>
          <p:cNvPr id="14" name="Shape 12"/>
          <p:cNvSpPr/>
          <p:nvPr/>
        </p:nvSpPr>
        <p:spPr>
          <a:xfrm>
            <a:off x="6464808" y="3163824"/>
            <a:ext cx="512064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DCE9EB"/>
            </a:solidFill>
            <a:prstDash val="solid"/>
          </a:ln>
          <a:effectLst>
            <a:outerShdw sx="100000" sy="100000" kx="0" ky="0" algn="bl" rotWithShape="0" blurRad="101600" dist="25400" dir="5400000">
              <a:srgbClr val="0A2A33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65976" y="33375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65976" y="338785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836408" y="3310128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Re-read the cached raw JSON — fully offline, identical results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168896" y="3941064"/>
            <a:ext cx="18288" cy="118872"/>
          </a:xfrm>
          <a:prstGeom prst="rect">
            <a:avLst/>
          </a:prstGeom>
          <a:solidFill>
            <a:srgbClr val="BFD4D8"/>
          </a:solidFill>
          <a:ln/>
        </p:spPr>
      </p:sp>
      <p:sp>
        <p:nvSpPr>
          <p:cNvPr id="19" name="Shape 17"/>
          <p:cNvSpPr/>
          <p:nvPr/>
        </p:nvSpPr>
        <p:spPr>
          <a:xfrm>
            <a:off x="6464808" y="4059936"/>
            <a:ext cx="512064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DCE9EB"/>
            </a:solidFill>
            <a:prstDash val="solid"/>
          </a:ln>
          <a:effectLst>
            <a:outerShdw sx="100000" sy="100000" kx="0" ky="0" algn="bl" rotWithShape="0" blurRad="101600" dist="25400" dir="5400000">
              <a:srgbClr val="0A2A33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65976" y="4233672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0A45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65976" y="428396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836408" y="420624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Clearly-labelled fallback records so a demo never dies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64808" y="5029200"/>
            <a:ext cx="5120640" cy="1005840"/>
          </a:xfrm>
          <a:prstGeom prst="roundRect">
            <a:avLst>
              <a:gd name="adj" fmla="val 6364"/>
            </a:avLst>
          </a:prstGeom>
          <a:solidFill>
            <a:srgbClr val="0A465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29400" y="5148072"/>
            <a:ext cx="47914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clinical_trial_rag.py --stage pipeline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F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  Fetched 4 studies (running total: 4)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F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  Fetched 5 studies (running total: 9)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B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[PRODUCER] Ingestion mode = LIVE | 9 studies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647395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Clinical Trial Matcher  ·  SDAIA Day 5 Capstone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045952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2 — The quality gate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9848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Six dimensions, two severities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523488" cy="868680"/>
          </a:xfrm>
          <a:prstGeom prst="roundRect">
            <a:avLst>
              <a:gd name="adj" fmla="val 9474"/>
            </a:avLst>
          </a:prstGeom>
          <a:solidFill>
            <a:srgbClr val="EFF5F6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929384"/>
            <a:ext cx="2106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221992"/>
            <a:ext cx="3066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&amp; title present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19984" y="1920240"/>
            <a:ext cx="932688" cy="256032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919984" y="1956816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319016" y="1783080"/>
            <a:ext cx="3523488" cy="868680"/>
          </a:xfrm>
          <a:prstGeom prst="roundRect">
            <a:avLst>
              <a:gd name="adj" fmla="val 9474"/>
            </a:avLst>
          </a:prstGeom>
          <a:solidFill>
            <a:srgbClr val="EFF5F6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56760" y="1929384"/>
            <a:ext cx="2106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556760" y="2221992"/>
            <a:ext cx="3066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NCT identifier format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72072" y="1920240"/>
            <a:ext cx="932688" cy="256032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72072" y="1956816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071104" y="1783080"/>
            <a:ext cx="3523488" cy="868680"/>
          </a:xfrm>
          <a:prstGeom prst="roundRect">
            <a:avLst>
              <a:gd name="adj" fmla="val 9474"/>
            </a:avLst>
          </a:prstGeom>
          <a:solidFill>
            <a:srgbClr val="EFF5F6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08848" y="1929384"/>
            <a:ext cx="2106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308848" y="2221992"/>
            <a:ext cx="3066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trials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424160" y="1920240"/>
            <a:ext cx="932688" cy="256032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424160" y="1956816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66928" y="2852928"/>
            <a:ext cx="3523488" cy="868680"/>
          </a:xfrm>
          <a:prstGeom prst="roundRect">
            <a:avLst>
              <a:gd name="adj" fmla="val 9474"/>
            </a:avLst>
          </a:prstGeom>
          <a:solidFill>
            <a:srgbClr val="EFF5F6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4672" y="2999232"/>
            <a:ext cx="2106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04672" y="3291840"/>
            <a:ext cx="3066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and enrollment in range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919984" y="2990088"/>
            <a:ext cx="932688" cy="256032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919984" y="3026664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319016" y="2852928"/>
            <a:ext cx="3523488" cy="868680"/>
          </a:xfrm>
          <a:prstGeom prst="roundRect">
            <a:avLst>
              <a:gd name="adj" fmla="val 9474"/>
            </a:avLst>
          </a:prstGeom>
          <a:solidFill>
            <a:srgbClr val="EFF5F6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56760" y="2999232"/>
            <a:ext cx="2106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4556760" y="3291840"/>
            <a:ext cx="3066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vocabulary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672072" y="2990088"/>
            <a:ext cx="932688" cy="256032"/>
          </a:xfrm>
          <a:prstGeom prst="roundRect">
            <a:avLst>
              <a:gd name="adj" fmla="val 50000"/>
            </a:avLst>
          </a:prstGeom>
          <a:solidFill>
            <a:srgbClr val="E0A45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672072" y="3026664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071104" y="2852928"/>
            <a:ext cx="3523488" cy="868680"/>
          </a:xfrm>
          <a:prstGeom prst="roundRect">
            <a:avLst>
              <a:gd name="adj" fmla="val 9474"/>
            </a:avLst>
          </a:prstGeom>
          <a:solidFill>
            <a:srgbClr val="EFF5F6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308848" y="2999232"/>
            <a:ext cx="2106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Timeliness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8308848" y="3291840"/>
            <a:ext cx="3066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within five years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424160" y="2990088"/>
            <a:ext cx="932688" cy="256032"/>
          </a:xfrm>
          <a:prstGeom prst="roundRect">
            <a:avLst>
              <a:gd name="adj" fmla="val 50000"/>
            </a:avLst>
          </a:prstGeom>
          <a:solidFill>
            <a:srgbClr val="E0A45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0424160" y="3026664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66928" y="3977640"/>
            <a:ext cx="11027664" cy="1883664"/>
          </a:xfrm>
          <a:prstGeom prst="roundRect">
            <a:avLst>
              <a:gd name="adj" fmla="val 4369"/>
            </a:avLst>
          </a:prstGeom>
          <a:solidFill>
            <a:srgbClr val="04303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59536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testing changed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859536" y="4498848"/>
            <a:ext cx="5852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version quarantined every violation equally. Run against a realistic registry response, it rejected 5 of 9 records — mostly for being old — and halted the pipeline. But a completed trial from 2017 is still valid evidence.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7150608" y="41605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7150608" y="44165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cannot be cited → quarantined, counts toward the 30% halt threshold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7150608" y="50292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150608" y="528523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kept, tagged, and the flag surfaces beside the evidence it qualifies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566928" y="647395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Clinical Trial Matcher  ·  SDAIA Day 5 Capstone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1045952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3 — HIPAA governance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9848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Enforced by code, not by a policy document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943600" cy="1234440"/>
          </a:xfrm>
          <a:prstGeom prst="roundRect">
            <a:avLst>
              <a:gd name="adj" fmla="val 6667"/>
            </a:avLst>
          </a:prstGeom>
          <a:solidFill>
            <a:srgbClr val="0A4653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20240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920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35608" y="18105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De-identification at ingestion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435608" y="2130552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9C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RESTRICTED field — name, MRN, date of birth, phone, email, address — is dropped. Identity is replaced by a deterministic, irreversible pseudonym.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971800"/>
            <a:ext cx="5943600" cy="1234440"/>
          </a:xfrm>
          <a:prstGeom prst="roundRect">
            <a:avLst>
              <a:gd name="adj" fmla="val 6667"/>
            </a:avLst>
          </a:prstGeom>
          <a:solidFill>
            <a:srgbClr val="0A4653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3264408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4672" y="32644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35608" y="3154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 gate at the vector database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435608" y="3474720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9C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chunk is re-scanned immediately before insertion. If an identifier survived, the write raises and the chunk never becomes a vector.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4315968"/>
            <a:ext cx="5943600" cy="1234440"/>
          </a:xfrm>
          <a:prstGeom prst="roundRect">
            <a:avLst>
              <a:gd name="adj" fmla="val 6667"/>
            </a:avLst>
          </a:prstGeom>
          <a:solidFill>
            <a:srgbClr val="0A4653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" y="4608576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4608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35608" y="44988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Query-time redaction and audit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435608" y="481888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9C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researcher pasting a patient name into the search box is the most common leak. Inbound questions are scrubbed and the stripped families are logged.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876288" y="16916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Proof, from the run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876288" y="2121408"/>
            <a:ext cx="4736592" cy="2395728"/>
          </a:xfrm>
          <a:prstGeom prst="roundRect">
            <a:avLst>
              <a:gd name="adj" fmla="val 2672"/>
            </a:avLst>
          </a:prstGeom>
          <a:solidFill>
            <a:srgbClr val="0A465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040880" y="2240280"/>
            <a:ext cx="4407408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HIPAA GOVERNANCE - PHI DE-IDENTIFICATION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F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Patient records processed ...... 3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F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PHI identifiers removed ........ 18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F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Safe-zone fields: age, diagnosis,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F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hba1c, comorbidities, pseudonym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8FB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attempting to index a poisoned chunk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FF9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PHI detected (['EMAIL','MRN'])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9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Refusing to write it to the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9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vector database.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76288" y="4709160"/>
            <a:ext cx="4736592" cy="1097280"/>
          </a:xfrm>
          <a:prstGeom prst="roundRect">
            <a:avLst>
              <a:gd name="adj" fmla="val 7500"/>
            </a:avLst>
          </a:prstGeom>
          <a:solidFill>
            <a:srgbClr val="02809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32320" y="4937760"/>
            <a:ext cx="4224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PHI in the vector DB" is a test that fails the build, not a sentence in a policy PDF.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647395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Clinical Trial Matcher  ·  SDAIA Day 5 Capstone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045952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4 — Lakehouse storage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9848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ACID, schema enforcement, and time travel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810512"/>
            <a:ext cx="5486400" cy="1097280"/>
          </a:xfrm>
          <a:prstGeom prst="roundRect">
            <a:avLst>
              <a:gd name="adj" fmla="val 7500"/>
            </a:avLst>
          </a:prstGeom>
          <a:solidFill>
            <a:srgbClr val="EFF5F6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atomicity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parquet file is written first and the commit entry appended only on success — a crash mid-write leaves an orphan no reader can ever see.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" y="3017520"/>
            <a:ext cx="5486400" cy="1097280"/>
          </a:xfrm>
          <a:prstGeom prst="roundRect">
            <a:avLst>
              <a:gd name="adj" fmla="val 7500"/>
            </a:avLst>
          </a:prstGeom>
          <a:solidFill>
            <a:srgbClr val="EFF5F6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1729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enforcement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49300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blueprint is pinned at version 0. A batch with extra, missing, or retyped columns is rejected before it lands.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4224528"/>
            <a:ext cx="5486400" cy="1097280"/>
          </a:xfrm>
          <a:prstGeom prst="roundRect">
            <a:avLst>
              <a:gd name="adj" fmla="val 7500"/>
            </a:avLst>
          </a:prstGeom>
          <a:solidFill>
            <a:srgbClr val="EFF5F6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3799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travel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70001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commit is an immutable numbered entry in _delta_log, so any past version can be re-read exactly as it was.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5431536"/>
            <a:ext cx="548640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559612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semantics without a JVM — so the demo never fails on a Java version mismatch.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64808" y="181051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transaction log, live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64808" y="2240280"/>
            <a:ext cx="5120640" cy="1600200"/>
          </a:xfrm>
          <a:prstGeom prst="roundRect">
            <a:avLst>
              <a:gd name="adj" fmla="val 4000"/>
            </a:avLst>
          </a:prstGeom>
          <a:solidFill>
            <a:srgbClr val="0A465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29400" y="2359152"/>
            <a:ext cx="479145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LAKEHOUSE TRANSACTION LOG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F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version  operation  numRecords  mode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F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0      WRITE           4  overwrite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F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1     APPEND           2  append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B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 version 0 ....... 4 records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B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latest .......... 6 records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464808" y="404164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drift, blocked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64808" y="4480560"/>
            <a:ext cx="5120640" cy="1280160"/>
          </a:xfrm>
          <a:prstGeom prst="roundRect">
            <a:avLst>
              <a:gd name="adj" fmla="val 5000"/>
            </a:avLst>
          </a:prstGeom>
          <a:solidFill>
            <a:srgbClr val="0A465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29400" y="4599432"/>
            <a:ext cx="479145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8FB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appending an unannounced column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F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'investigator_notes' ...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FF9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Transaction blocked by the Lakehouse!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9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Schema mismatch. Unexpected columns: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9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['investigator_notes']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647395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Clinical Trial Matcher  ·  SDAIA Day 5 Capstone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045952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Layers 5 &amp; 6 — Building the corpus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9848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Chunking, embeddings, and the vector index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2000707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CE9EB"/>
            </a:solidFill>
            <a:prstDash val="solid"/>
          </a:ln>
          <a:effectLst>
            <a:outerShdw sx="100000" sy="100000" kx="0" ky="0" algn="bl" rotWithShape="0" blurRad="101600" dist="25400" dir="5400000">
              <a:srgbClr val="0A2A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2029968"/>
            <a:ext cx="237744" cy="23774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86384" y="2377440"/>
            <a:ext cx="15617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record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651760"/>
            <a:ext cx="15617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+ free text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595067" y="221284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FC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823667" y="1828800"/>
            <a:ext cx="2000707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CE9EB"/>
            </a:solidFill>
            <a:prstDash val="solid"/>
          </a:ln>
          <a:effectLst>
            <a:outerShdw sx="100000" sy="100000" kx="0" ky="0" algn="bl" rotWithShape="0" blurRad="101600" dist="25400" dir="5400000">
              <a:srgbClr val="0A2A33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43123" y="2029968"/>
            <a:ext cx="237744" cy="23774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043123" y="2377440"/>
            <a:ext cx="15617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chunk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043123" y="2651760"/>
            <a:ext cx="15617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 → line → sentence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851806" y="221284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FC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80406" y="1828800"/>
            <a:ext cx="2000707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CE9EB"/>
            </a:solidFill>
            <a:prstDash val="solid"/>
          </a:ln>
          <a:effectLst>
            <a:outerShdw sx="100000" sy="100000" kx="0" ky="0" algn="bl" rotWithShape="0" blurRad="101600" dist="25400" dir="5400000">
              <a:srgbClr val="0A2A33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99862" y="2029968"/>
            <a:ext cx="237744" cy="23774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299862" y="2377440"/>
            <a:ext cx="15617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150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299862" y="2651760"/>
            <a:ext cx="15617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~17% — Day 3 advises 10–20%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108546" y="221284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FC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337146" y="1828800"/>
            <a:ext cx="2000707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CE9EB"/>
            </a:solidFill>
            <a:prstDash val="solid"/>
          </a:ln>
          <a:effectLst>
            <a:outerShdw sx="100000" sy="100000" kx="0" ky="0" algn="bl" rotWithShape="0" blurRad="101600" dist="25400" dir="5400000">
              <a:srgbClr val="0A2A33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556602" y="2029968"/>
            <a:ext cx="237744" cy="237744"/>
          </a:xfrm>
          <a:prstGeom prst="ellipse">
            <a:avLst/>
          </a:prstGeom>
          <a:solidFill>
            <a:srgbClr val="5FD4B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556602" y="2377440"/>
            <a:ext cx="15617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384-dim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556602" y="2651760"/>
            <a:ext cx="15617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365285" y="221284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FC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593885" y="1828800"/>
            <a:ext cx="2000707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CE9EB"/>
            </a:solidFill>
            <a:prstDash val="solid"/>
          </a:ln>
          <a:effectLst>
            <a:outerShdw sx="100000" sy="100000" kx="0" ky="0" algn="bl" rotWithShape="0" blurRad="101600" dist="25400" dir="5400000">
              <a:srgbClr val="0A2A33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813341" y="2029968"/>
            <a:ext cx="237744" cy="23774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813341" y="2377440"/>
            <a:ext cx="15617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HNSW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813341" y="2651760"/>
            <a:ext cx="15617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" y="3310128"/>
            <a:ext cx="5532120" cy="2395728"/>
          </a:xfrm>
          <a:prstGeom prst="roundRect">
            <a:avLst>
              <a:gd name="adj" fmla="val 3435"/>
            </a:avLst>
          </a:prstGeom>
          <a:solidFill>
            <a:srgbClr val="EFF5F6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41248" y="34930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HNSW and cosine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41248" y="3840480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3's decision tree: high recall needed and RAM available → HNSW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Cosine, so a long trial description cannot outrank a short precise one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runs embedded — no server for an evaluator to start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64808" y="3310128"/>
            <a:ext cx="5120640" cy="2395728"/>
          </a:xfrm>
          <a:prstGeom prst="roundRect">
            <a:avLst>
              <a:gd name="adj" fmla="val 3435"/>
            </a:avLst>
          </a:prstGeom>
          <a:solidFill>
            <a:srgbClr val="04303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720840" y="34930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chunking decision worth explaining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720840" y="384048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ages live in a metadata column, not in the criteria text — so our first build could never answer "what are the age limits?"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720840" y="4736592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structured facts are inlined into eligibility chunks, making each chunk genuinely self-contained. That passage now ranks first for exactly that question.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66928" y="647395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Clinical Trial Matcher  ·  SDAIA Day 5 Capstone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045952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7 — Advanced retrieval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9848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Hybrid search, rank fusion, two-stage reranking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0749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9EB"/>
            </a:solidFill>
            <a:prstDash val="solid"/>
          </a:ln>
          <a:effectLst>
            <a:outerShdw sx="100000" sy="100000" kx="0" ky="0" algn="bl" rotWithShape="0" blurRad="101600" dist="25400" dir="5400000">
              <a:srgbClr val="0A2A33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751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search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· cosine · top 25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950208" y="2084832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950208" y="216712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meaning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025896" y="1828800"/>
            <a:ext cx="50749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9EB"/>
            </a:solidFill>
            <a:prstDash val="solid"/>
          </a:ln>
          <a:effectLst>
            <a:outerShdw sx="100000" sy="100000" kx="0" ky="0" algn="bl" rotWithShape="0" blurRad="101600" dist="25400" dir="5400000">
              <a:srgbClr val="0A2A33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281928" y="19751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search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281928" y="22860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· top 25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409176" y="2084832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409176" y="216712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tokens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6928" y="2926080"/>
            <a:ext cx="11027664" cy="713232"/>
          </a:xfrm>
          <a:prstGeom prst="roundRect">
            <a:avLst>
              <a:gd name="adj" fmla="val 11538"/>
            </a:avLst>
          </a:prstGeom>
          <a:solidFill>
            <a:srgbClr val="0430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59536" y="31089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Reciprocal Rank Fusion   ·   RRF k = 60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053328" y="31455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two ranked lists without a shared score scale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3822192"/>
            <a:ext cx="11027664" cy="713232"/>
          </a:xfrm>
          <a:prstGeom prst="roundRect">
            <a:avLst>
              <a:gd name="adj" fmla="val 11538"/>
            </a:avLst>
          </a:prstGeom>
          <a:solidFill>
            <a:srgbClr val="0A465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9536" y="400507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reranking   ·   top 5 survive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53328" y="4041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A9C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reads five strong passages, not fifty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736592"/>
            <a:ext cx="5532120" cy="1371600"/>
          </a:xfrm>
          <a:prstGeom prst="roundRect">
            <a:avLst>
              <a:gd name="adj" fmla="val 6000"/>
            </a:avLst>
          </a:prstGeom>
          <a:solidFill>
            <a:srgbClr val="EFF5F6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90118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pure vector search is not enough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193792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are excellent on concepts and weak on exact tokens — NCT04223752, HbA1c, SGLT2. BM25 covers precisely that blind spot.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64808" y="4736592"/>
            <a:ext cx="5120640" cy="1371600"/>
          </a:xfrm>
          <a:prstGeom prst="roundRect">
            <a:avLst>
              <a:gd name="adj" fmla="val 4667"/>
            </a:avLst>
          </a:prstGeom>
          <a:solidFill>
            <a:srgbClr val="0A465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29400" y="4855464"/>
            <a:ext cx="47914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F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stage-1 candidates : 21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FB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-&gt;  after RRF fusion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FB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-&gt;  after reranking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stage-2 survivors  : 5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retrieval latency  : 7.7 ms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647395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Clinical Trial Matcher  ·  SDAIA Day 5 Capstone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045952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8 — The answer, and its receipts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9848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resolves to a governed source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trail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5532120" cy="1965960"/>
          </a:xfrm>
          <a:prstGeom prst="roundRect">
            <a:avLst>
              <a:gd name="adj" fmla="val 3256"/>
            </a:avLst>
          </a:prstGeom>
          <a:solidFill>
            <a:srgbClr val="0A465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267712"/>
            <a:ext cx="5202936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 TRAIL</a:t>
            </a:r>
            <a:endParaRPr lang="en-US" sz="10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CF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NCT05118932 | eligibility | via=hybrid</a:t>
            </a:r>
            <a:endParaRPr lang="en-US" sz="10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CF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chunk   : NCT05118932::eligibility::0</a:t>
            </a:r>
            <a:endParaRPr lang="en-US" sz="10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CF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lineage : LIN_0003_LAKEHOUSE_WRITE</a:t>
            </a:r>
            <a:endParaRPr lang="en-US" sz="10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CF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source  : clinicaltrials.gov/study/...</a:t>
            </a:r>
            <a:endParaRPr lang="en-US" sz="10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CF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 NCT02001010 | eligibility | via=hybrid</a:t>
            </a:r>
            <a:endParaRPr lang="en-US" sz="10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F0C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! quality: STALE_RECORD</a:t>
            </a:r>
            <a:endParaRPr lang="en-US" sz="10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F0C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(last updated 2017-02-11)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4279392"/>
            <a:ext cx="5532120" cy="1810512"/>
          </a:xfrm>
          <a:prstGeom prst="roundRect">
            <a:avLst>
              <a:gd name="adj" fmla="val 4545"/>
            </a:avLst>
          </a:prstGeom>
          <a:solidFill>
            <a:srgbClr val="EFF5F6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44398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identifiers per citation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736592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NCT ID — the trial in the public registry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ID — the exact passage retrieved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ID — the pipeline run that produced it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flag — any advisory caveat on that record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64808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Contradiction alerts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64808" y="2148840"/>
            <a:ext cx="51206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572E"/>
            </a:solidFill>
            <a:prstDash val="solid"/>
          </a:ln>
          <a:effectLst>
            <a:outerShdw sx="100000" sy="100000" kx="0" ky="0" algn="bl" rotWithShape="0" blurRad="101600" dist="25400" dir="5400000">
              <a:srgbClr val="0A2A33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702552" y="2331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068312" y="2340864"/>
            <a:ext cx="4279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NCT05118932 declares a minimum age of 60 in its structured eligibility field, but its criteria text states 65 years. Verify against the registry before screening.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64808" y="3712464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real defect class in the registry. A researcher acting on the wrong value screens the wrong patients — so the platform surfaces the conflict instead of silently picking a side.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64808" y="4736592"/>
            <a:ext cx="5120640" cy="1353312"/>
          </a:xfrm>
          <a:prstGeom prst="roundRect">
            <a:avLst>
              <a:gd name="adj" fmla="val 6081"/>
            </a:avLst>
          </a:prstGeom>
          <a:solidFill>
            <a:srgbClr val="0430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720840" y="49011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Triad — measured on every answer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5193792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Relevance — did retrieval pull the right passages?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Groundedness — is the answer supported by them?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Relevance — does it address the question asked?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647395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Clinical Trial Matcher  ·  SDAIA Day 5 Capstone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045952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4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 — the conductor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9848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Dependency resolution, retries, backoff, fallbacks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1685544" cy="658368"/>
          </a:xfrm>
          <a:prstGeom prst="roundRect">
            <a:avLst>
              <a:gd name="adj" fmla="val 9722"/>
            </a:avLst>
          </a:prstGeom>
          <a:solidFill>
            <a:srgbClr val="0A465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892808"/>
            <a:ext cx="1685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2270760" y="1792224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435352" y="1691640"/>
            <a:ext cx="1685544" cy="658368"/>
          </a:xfrm>
          <a:prstGeom prst="roundRect">
            <a:avLst>
              <a:gd name="adj" fmla="val 9722"/>
            </a:avLst>
          </a:prstGeom>
          <a:solidFill>
            <a:srgbClr val="0A465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435352" y="1892808"/>
            <a:ext cx="1685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139184" y="1792224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303776" y="1691640"/>
            <a:ext cx="1685544" cy="658368"/>
          </a:xfrm>
          <a:prstGeom prst="roundRect">
            <a:avLst>
              <a:gd name="adj" fmla="val 9722"/>
            </a:avLst>
          </a:prstGeom>
          <a:solidFill>
            <a:srgbClr val="0A465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03776" y="1892808"/>
            <a:ext cx="1685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governance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007608" y="1792224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1685544" cy="658368"/>
          </a:xfrm>
          <a:prstGeom prst="roundRect">
            <a:avLst>
              <a:gd name="adj" fmla="val 9722"/>
            </a:avLst>
          </a:prstGeom>
          <a:solidFill>
            <a:srgbClr val="0A465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892808"/>
            <a:ext cx="1685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lakehouse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876032" y="1792224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040624" y="1691640"/>
            <a:ext cx="1685544" cy="658368"/>
          </a:xfrm>
          <a:prstGeom prst="roundRect">
            <a:avLst>
              <a:gd name="adj" fmla="val 9722"/>
            </a:avLst>
          </a:prstGeom>
          <a:solidFill>
            <a:srgbClr val="0A465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40624" y="1892808"/>
            <a:ext cx="1685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chunk_embed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9744456" y="1792224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9909048" y="1691640"/>
            <a:ext cx="1685544" cy="658368"/>
          </a:xfrm>
          <a:prstGeom prst="roundRect">
            <a:avLst>
              <a:gd name="adj" fmla="val 9722"/>
            </a:avLst>
          </a:prstGeom>
          <a:solidFill>
            <a:srgbClr val="0A465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909048" y="1892808"/>
            <a:ext cx="1685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vector_index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2670048"/>
            <a:ext cx="5577840" cy="758952"/>
          </a:xfrm>
          <a:prstGeom prst="roundRect">
            <a:avLst>
              <a:gd name="adj" fmla="val 10843"/>
            </a:avLst>
          </a:prstGeom>
          <a:solidFill>
            <a:srgbClr val="0A465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27889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resolution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307238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9C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Topological sort — a task never starts before its inputs exist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3520440"/>
            <a:ext cx="5577840" cy="758952"/>
          </a:xfrm>
          <a:prstGeom prst="roundRect">
            <a:avLst>
              <a:gd name="adj" fmla="val 10843"/>
            </a:avLst>
          </a:prstGeom>
          <a:solidFill>
            <a:srgbClr val="0A465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36393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with backoff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3922776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9C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task retries on failure, waiting 1s then 2s then 4s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6928" y="4370832"/>
            <a:ext cx="5577840" cy="758952"/>
          </a:xfrm>
          <a:prstGeom prst="roundRect">
            <a:avLst>
              <a:gd name="adj" fmla="val 10843"/>
            </a:avLst>
          </a:prstGeom>
          <a:solidFill>
            <a:srgbClr val="0A465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2960" y="448970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Per-component fallbacks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477316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9C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external dependency has an offline equivalent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" y="5221224"/>
            <a:ext cx="5577840" cy="758952"/>
          </a:xfrm>
          <a:prstGeom prst="roundRect">
            <a:avLst>
              <a:gd name="adj" fmla="val 10843"/>
            </a:avLst>
          </a:prstGeom>
          <a:solidFill>
            <a:srgbClr val="0A465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2960" y="534009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report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56235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9C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attempts, and duration for every task — observability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556248" y="26700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report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556248" y="3063240"/>
            <a:ext cx="5029200" cy="1783080"/>
          </a:xfrm>
          <a:prstGeom prst="roundRect">
            <a:avLst>
              <a:gd name="adj" fmla="val 3590"/>
            </a:avLst>
          </a:prstGeom>
          <a:solidFill>
            <a:srgbClr val="0A465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720840" y="3182112"/>
            <a:ext cx="47000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8FB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task  status  attempts  seconds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B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ingest SUCCESS         1     0.19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B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quality SUCCESS         1     0.03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B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governance SUCCESS         1     0.00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B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lakehouse SUCCESS         1     0.03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B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chunk_embed SUCCESS         1     5.88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B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vector_index SUCCESS         1     0.69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556248" y="5029200"/>
            <a:ext cx="5029200" cy="777240"/>
          </a:xfrm>
          <a:prstGeom prst="roundRect">
            <a:avLst>
              <a:gd name="adj" fmla="val 10588"/>
            </a:avLst>
          </a:prstGeom>
          <a:solidFill>
            <a:srgbClr val="028090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812280" y="5175504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platform is an orchestra, this is the conductor — the Day 5 analogy, implemented.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566928" y="647395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Clinical Trial Matcher  ·  SDAIA Day 5 Capstone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045952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the platform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9848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commands — each one maps to a layer you have just seen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11027664" cy="731520"/>
          </a:xfrm>
          <a:prstGeom prst="roundRect">
            <a:avLst>
              <a:gd name="adj" fmla="val 11250"/>
            </a:avLst>
          </a:prstGeom>
          <a:solidFill>
            <a:srgbClr val="EFF5F6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8379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--stage pipeline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130552"/>
            <a:ext cx="10387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everything: ingests real registry data, runs the quality gate, applies governance, commits to the lakehouse, embeds, and indexes.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" y="2551176"/>
            <a:ext cx="11027664" cy="731520"/>
          </a:xfrm>
          <a:prstGeom prst="roundRect">
            <a:avLst>
              <a:gd name="adj" fmla="val 11250"/>
            </a:avLst>
          </a:prstGeom>
          <a:solidFill>
            <a:srgbClr val="EFF5F6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--stage query --q "..."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944368"/>
            <a:ext cx="10387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a researcher question and returns the answer with its evidence trail, contradiction alerts, and RAG Triad scores.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3364992"/>
            <a:ext cx="11027664" cy="731520"/>
          </a:xfrm>
          <a:prstGeom prst="roundRect">
            <a:avLst>
              <a:gd name="adj" fmla="val 11250"/>
            </a:avLst>
          </a:prstGeom>
          <a:solidFill>
            <a:srgbClr val="EFF5F6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34655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--stage history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3758184"/>
            <a:ext cx="10387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the lakehouse transaction log and demonstrates time travel across versions.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4178808"/>
            <a:ext cx="11027664" cy="731520"/>
          </a:xfrm>
          <a:prstGeom prst="roundRect">
            <a:avLst>
              <a:gd name="adj" fmla="val 11250"/>
            </a:avLst>
          </a:prstGeom>
          <a:solidFill>
            <a:srgbClr val="EFF5F6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" y="4279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--stage lineage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4572000"/>
            <a:ext cx="10387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the end-to-end data genealogy from source to vector index.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4992624"/>
            <a:ext cx="11027664" cy="731520"/>
          </a:xfrm>
          <a:prstGeom prst="roundRect">
            <a:avLst>
              <a:gd name="adj" fmla="val 11250"/>
            </a:avLst>
          </a:prstGeom>
          <a:solidFill>
            <a:srgbClr val="04303A"/>
          </a:solidFill>
          <a:ln w="12700">
            <a:solidFill>
              <a:srgbClr val="0430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5093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--stage demo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5385816"/>
            <a:ext cx="10387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walkthrough — every layer, end to end. This is what we will run now.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594360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reproducibility:  --stage pipeline --offline  rebuilds the entire platform from the committed raw dataset, with no network access at all.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647395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Clinical Trial Matcher  ·  SDAIA Day 5 Capstone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045952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verified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9848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behaviour, not claimed behaviour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2551176" cy="1298448"/>
          </a:xfrm>
          <a:prstGeom prst="roundRect">
            <a:avLst>
              <a:gd name="adj" fmla="val 6338"/>
            </a:avLst>
          </a:prstGeom>
          <a:solidFill>
            <a:srgbClr val="EFF5F6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938528"/>
            <a:ext cx="2551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/ 6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633472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tasks green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92424" y="1783080"/>
            <a:ext cx="2551176" cy="1298448"/>
          </a:xfrm>
          <a:prstGeom prst="roundRect">
            <a:avLst>
              <a:gd name="adj" fmla="val 6338"/>
            </a:avLst>
          </a:prstGeom>
          <a:solidFill>
            <a:srgbClr val="EFF5F6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92424" y="1938528"/>
            <a:ext cx="2551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0.885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3392424" y="2633472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Groundedness score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2551176" cy="1298448"/>
          </a:xfrm>
          <a:prstGeom prst="roundRect">
            <a:avLst>
              <a:gd name="adj" fmla="val 6338"/>
            </a:avLst>
          </a:prstGeom>
          <a:solidFill>
            <a:srgbClr val="EFF5F6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938528"/>
            <a:ext cx="2551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633472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identifiers stripped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43416" y="1783080"/>
            <a:ext cx="2551176" cy="1298448"/>
          </a:xfrm>
          <a:prstGeom prst="roundRect">
            <a:avLst>
              <a:gd name="adj" fmla="val 6338"/>
            </a:avLst>
          </a:prstGeom>
          <a:solidFill>
            <a:srgbClr val="EFF5F6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43416" y="1938528"/>
            <a:ext cx="2551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A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2,081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9043416" y="2633472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lines, one Python file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33101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end to end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3675888"/>
            <a:ext cx="5532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Two-page API pagination, raw caching, and identical offline replay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seeded data defect landed in its intended quality dimension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drift blocked; time travel returned 4 then 6 records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PHI-bearing chunk was refused entry to the vector database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metadata-versus-text contradiction was detected and reported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generation call verified: model, temperature, prompt shape, parsing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64808" y="3310128"/>
            <a:ext cx="5120640" cy="2670048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20840" y="34930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Stated honestly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3822192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development environment blocked the live registry and model hosts at the network policy level. So the following remain unverified against the real services: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720840" y="461772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field names the live registry returns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embedding and cross-encoder models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720840" y="524865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were exercised against fixtures built from the documented schema and the published model APIs. A mismatch would surface on the first live run.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647395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Clinical Trial Matcher  ·  SDAIA Day 5 Capstone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045952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4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Architectural decisions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9848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substitution was a trade-off we can defend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11027664" cy="1051560"/>
          </a:xfrm>
          <a:prstGeom prst="roundRect">
            <a:avLst>
              <a:gd name="adj" fmla="val 7826"/>
            </a:avLst>
          </a:prstGeom>
          <a:solidFill>
            <a:srgbClr val="0A465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59536" y="183794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 →  in-file Delta log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321808" y="1837944"/>
            <a:ext cx="5998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FD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delta-spark needs Spark and a matching JVM. We reimplemented the semantics — ordered immutable commits, a pinned blueprint, write-then-commit atomicity — keeping the deliverable a single dependency-light file.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" y="2852928"/>
            <a:ext cx="11027664" cy="1051560"/>
          </a:xfrm>
          <a:prstGeom prst="roundRect">
            <a:avLst>
              <a:gd name="adj" fmla="val 7826"/>
            </a:avLst>
          </a:prstGeom>
          <a:solidFill>
            <a:srgbClr val="0A465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" y="29992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 →  ChromaDB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2999232"/>
            <a:ext cx="5998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FD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use HNSW, so the retrieval architecture is unchanged. Chroma is in the Day 5 recommended stack, was taught on Day 3, and runs embedded with no server to start.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4014216"/>
            <a:ext cx="11027664" cy="1051560"/>
          </a:xfrm>
          <a:prstGeom prst="roundRect">
            <a:avLst>
              <a:gd name="adj" fmla="val 7826"/>
            </a:avLst>
          </a:prstGeom>
          <a:solidFill>
            <a:srgbClr val="0A465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59536" y="41605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RAG  →  hybrid + reranking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4160520"/>
            <a:ext cx="5998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FD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Dense-only retrieval failed on exact tokens and on questions whose answer lived in a metadata column. BM25 fusion and self-contained chunks fixed both.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5321808"/>
            <a:ext cx="11027664" cy="868680"/>
          </a:xfrm>
          <a:prstGeom prst="roundRect">
            <a:avLst>
              <a:gd name="adj" fmla="val 9474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77824" y="5486400"/>
            <a:ext cx="10405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integrated platform moves an enterprise beyond simple AI prototypes — real-time streaming, strict governance, automated validation, and semantic retrieval working as a single machine.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647395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Clinical Trial Matcher  ·  SDAIA Day 5 Capstone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045952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Clinical Trial Matcher</dc:title>
  <dc:subject>PptxGenJS Presentation</dc:subject>
  <dc:creator>Dana Wael Alhelal</dc:creator>
  <cp:lastModifiedBy>Dana Wael Alhelal</cp:lastModifiedBy>
  <cp:revision>1</cp:revision>
  <dcterms:created xsi:type="dcterms:W3CDTF">2026-09-03T08:13:27Z</dcterms:created>
  <dcterms:modified xsi:type="dcterms:W3CDTF">2026-09-03T08:13:27Z</dcterms:modified>
</cp:coreProperties>
</file>